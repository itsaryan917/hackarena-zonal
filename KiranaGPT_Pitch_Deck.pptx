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4056278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40562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HACKARENA 2.0  ·  GENERATIVE &amp; AGENTIC AI TRACK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5303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KIRANA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5303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600" kern="0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</a:t>
            </a:r>
            <a:endParaRPr lang="en-US" sz="7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577840" cy="594360"/>
          </a:xfrm>
          <a:prstGeom prst="rect">
            <a:avLst/>
          </a:prstGeom>
          <a:solidFill>
            <a:srgbClr val="0D132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677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E8EDF5"/>
                </a:solidFill>
              </a:rPr>
              <a:t>A loan officer uploads 5 photos.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E8EDF5"/>
                </a:solidFill>
              </a:rPr>
              <a:t>KiranaGPT approves the loan in 60 seconds — no field visit, no paperwork.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</a:rPr>
              <a:t>Multi-Agent AI Credit Intelligence for India's 13M Kirana Stores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20040"/>
            <a:ext cx="2423160" cy="4498848"/>
          </a:xfrm>
          <a:prstGeom prst="rect">
            <a:avLst/>
          </a:prstGeom>
          <a:solidFill>
            <a:srgbClr val="0D1320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621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13M+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10241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Kirana stores in India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1426464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₹40L Cr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Addressable credit market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2231136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46520" y="263347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End-to-end AI decision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303580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343814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AI agents (Gemini-powered)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46520" y="42428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Field visits required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Computer Vision  ·  Gemini Multi-Agent  ·  Geo-Spatial AI  ·  Voice AI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205533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2055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  /  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13 Million Stores Can't Get a Loan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011680" cy="1234440"/>
          </a:xfrm>
          <a:prstGeom prst="rect">
            <a:avLst/>
          </a:prstGeom>
          <a:solidFill>
            <a:srgbClr val="130811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9875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Kirana stores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across India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2304" y="914400"/>
            <a:ext cx="2011680" cy="1234440"/>
          </a:xfrm>
          <a:prstGeom prst="rect">
            <a:avLst/>
          </a:prstGeom>
          <a:solidFill>
            <a:srgbClr val="130811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32304" y="9875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32304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Formal financial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records kept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08576" y="914400"/>
            <a:ext cx="2011680" cy="1234440"/>
          </a:xfrm>
          <a:prstGeom prst="rect">
            <a:avLst/>
          </a:prstGeom>
          <a:solidFill>
            <a:srgbClr val="130811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9875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2–4 Wks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08576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Manual field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survey timeline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84848" y="914400"/>
            <a:ext cx="2011680" cy="1234440"/>
          </a:xfrm>
          <a:prstGeom prst="rect">
            <a:avLst/>
          </a:prstGeom>
          <a:solidFill>
            <a:srgbClr val="130811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9875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₹5,000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84848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Cost per field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visit — paid by NBFC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4187952" cy="2514600"/>
          </a:xfrm>
          <a:prstGeom prst="rect">
            <a:avLst/>
          </a:prstGeom>
          <a:solidFill>
            <a:srgbClr val="13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0624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Today's Reality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" y="27614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Field officer physically visits every store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31455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Owners coach answers — easily gamed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" y="3529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No reproducible or auditable scoring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" y="39136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₹5,000 cost + 2–4 weeks per decision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42976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Result: 90% of creditworthy stores rejected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0016" y="2286000"/>
            <a:ext cx="4187952" cy="2514600"/>
          </a:xfrm>
          <a:prstGeom prst="rect">
            <a:avLst/>
          </a:prstGeom>
          <a:solidFill>
            <a:srgbClr val="071310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✓  What the Market Needs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7614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Remote underwriting — zero field visits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1455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Objective, fraud-resistant AI scoring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529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Sub-minute decision at near-zero 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9136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Scales to every PIN code in India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2976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Explainable AI for RBI compliance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205533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2055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02  /  PROPOSED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KiranaGPT: 5 Photos → Loan Decision in 60 Seconds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9509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</a:rPr>
              <a:t>INPUT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115214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5 Photos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+ GPS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+ Optional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47672" y="13716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9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22576" y="914400"/>
            <a:ext cx="2212848" cy="1188720"/>
          </a:xfrm>
          <a:prstGeom prst="rect">
            <a:avLst/>
          </a:prstGeom>
          <a:solidFill>
            <a:srgbClr val="0A0E1A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22576" y="102412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KiranaGPT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22576" y="1426464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5"/>
                </a:solidFill>
              </a:rPr>
              <a:t>6 AI Agents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5"/>
                </a:solidFill>
              </a:rPr>
              <a:t>Orchestrated by Gemini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3716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9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56048" y="914400"/>
            <a:ext cx="1828800" cy="566928"/>
          </a:xfrm>
          <a:prstGeom prst="rect">
            <a:avLst/>
          </a:prstGeom>
          <a:solidFill>
            <a:srgbClr val="F8FAF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56048" y="91440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914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₹ Revenue Range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76288" y="914400"/>
            <a:ext cx="1828800" cy="566928"/>
          </a:xfrm>
          <a:prstGeom prst="rect">
            <a:avLst/>
          </a:prstGeom>
          <a:solidFill>
            <a:srgbClr val="F8FAFC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76288" y="914400"/>
            <a:ext cx="64008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914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Business Advice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56048" y="1536192"/>
            <a:ext cx="1828800" cy="566928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56048" y="1536192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5361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Loan Decision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76288" y="1536192"/>
            <a:ext cx="1828800" cy="566928"/>
          </a:xfrm>
          <a:prstGeom prst="rect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76288" y="1536192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15361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PDF + Hindi Voice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" y="224942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the AI Actually Tells You — Example Output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2578608"/>
            <a:ext cx="2743200" cy="1783080"/>
          </a:xfrm>
          <a:prstGeom prst="rect">
            <a:avLst/>
          </a:prstGeom>
          <a:solidFill>
            <a:srgbClr val="F0FDF4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578608"/>
            <a:ext cx="27432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651760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Business Advisor Agent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" y="2926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Business Health Score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108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72/100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47472" y="3419856"/>
            <a:ext cx="2505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Top Fix: Stock Maggi, Parle-G, Kurkure — adds ₹10K/month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Opportunity: Add recharge counter — +20% footfall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54680" y="2578608"/>
            <a:ext cx="2743200" cy="1783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578608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2651760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Loan Advisor Agent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73552" y="292608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Recommended Loan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73552" y="310896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₹2,50,000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273552" y="3419856"/>
            <a:ext cx="2505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Based on ₹1.5L monthly revenue, 8 years tenure, Tier-1 location. XGBoost score 712. Risk band: LOW. EMI: ₹24,583/month.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0760" y="2578608"/>
            <a:ext cx="283464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2578608"/>
            <a:ext cx="2834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6517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Voice Agent (Hindi)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99632" y="2926080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Owner asks in Hindi: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9632" y="312724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"Mera business kaise badhega?"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9632" y="3419856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i="1" dirty="0">
                <a:solidFill>
                  <a:srgbClr val="334155"/>
                </a:solidFill>
              </a:rPr>
              <a:t>AI responds in Hindi (voice):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i="1" dirty="0">
                <a:solidFill>
                  <a:srgbClr val="334155"/>
                </a:solidFill>
              </a:rPr>
              <a:t>"Maggi aur Parle-G stock karein — isse aapka revenue 18% badh sakta hai."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125066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12506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  /  TECHNOLOGY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AI — Every Layer Purpose-Built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834640" cy="3913632"/>
          </a:xfrm>
          <a:prstGeom prst="rect">
            <a:avLst/>
          </a:prstGeom>
          <a:solidFill>
            <a:srgbClr val="0D1320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28346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AI &amp; Computer Vision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353312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YOLOv8n (Ultralytics)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581912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Object detection across 5 images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847088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8366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Google Gemini 1.5 Flash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07568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LLM reasoning — all 6 agents (free)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340864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774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 Speech 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569464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Speech-to-text (STT)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834640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7121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Browser SpeechSynthesis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Text-to-speech (Hindi/EN)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328416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6499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XGBoost / sklearn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557016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ML credit scoring (300–900)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914400"/>
            <a:ext cx="2834640" cy="3913632"/>
          </a:xfrm>
          <a:prstGeom prst="rect">
            <a:avLst/>
          </a:prstGeom>
          <a:solidFill>
            <a:srgbClr val="0D132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914400"/>
            <a:ext cx="283464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100584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Backend &amp;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55848" y="1353312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138988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FastAPI + Uvicorn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1581912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API server &amp; routing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55848" y="1847088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188366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OpenCV + CLAHE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29000" y="207568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Image preprocessing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55848" y="2340864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23774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OSM Overpass API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29000" y="2569464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Real-time geo intelligence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55848" y="2834640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287121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Markdown + HTML Reports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29000" y="3063240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AI-generated, downloadable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55848" y="3328416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336499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Tenacity + Pydantic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29000" y="3557016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Retry, error handling, schemas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99632" y="914400"/>
            <a:ext cx="2834640" cy="3913632"/>
          </a:xfrm>
          <a:prstGeom prst="rect">
            <a:avLst/>
          </a:prstGeom>
          <a:solidFill>
            <a:srgbClr val="0D132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99632" y="914400"/>
            <a:ext cx="283464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100584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Frontend &amp; Database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27648" y="1353312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138988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Next.js 14 (App Router)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00800" y="1581912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Frontend framework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27648" y="1847088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88366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TypeScript + Tailwind CSS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00800" y="207568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UI language &amp; styling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27648" y="2340864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23774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Supabase / PostgreSQL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00800" y="2569464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Database + audit trail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27648" y="2834640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287121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python-dotenv + asyncio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400800" y="3063240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Env management + async agents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27648" y="3328416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336499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hooks + API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00800" y="3557016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State management &amp; calls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3171139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31711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04  /  IMPLEMENTATION —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6-Agent Autonomous AI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7A8B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91440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</a:rPr>
              <a:t>INPUT  →  5 shop images  +  GPS coordinates  +  optional details (rent · size · years)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389888"/>
            <a:ext cx="4480560" cy="548640"/>
          </a:xfrm>
          <a:prstGeom prst="rect">
            <a:avLst/>
          </a:prstGeom>
          <a:solidFill>
            <a:srgbClr val="1A0A35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50800" dir="8100000">
              <a:srgbClr val="00C896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40817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0C896"/>
                </a:solidFill>
              </a:rPr>
              <a:t>ORCHESTRATOR AGENT  (Gemini 1.5 Flash)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31720" y="16459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Manages state · calls all agents · handles retries · synthesises final response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084832"/>
            <a:ext cx="155448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Vision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YOLOv8n +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Gemini insight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20240" y="2084832"/>
            <a:ext cx="155448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Geo Intel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20240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OSM live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market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84448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84448" y="2084832"/>
            <a:ext cx="15544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Credit Risk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84448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XGBoost +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LLM narrative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48656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48656" y="2084832"/>
            <a:ext cx="155448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48656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Advisor 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48656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Gemini strategy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&amp; SKU advice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12864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12864" y="2084832"/>
            <a:ext cx="155448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Loan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Advisor 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12864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Lender-grade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credit memo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05840" y="3200400"/>
            <a:ext cx="3383280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34747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PDF · HTML · Markdown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200400"/>
            <a:ext cx="3383280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Voice Agent 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4747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Hindi + English STT/TTS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950208"/>
            <a:ext cx="8631936" cy="621792"/>
          </a:xfrm>
          <a:prstGeom prst="rect">
            <a:avLst/>
          </a:prstGeom>
          <a:solidFill>
            <a:srgbClr val="071310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1480" y="3986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</a:rPr>
              <a:t>OUTPUT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1480" y="42062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Revenue range  ·  Fraud flags  ·  Business advice  ·  Lender loan memo  ·  PDF report  ·  Hindi voice summary  ·  Supabase audit trail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366467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36646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  /  IMPLEMENTATION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Build It — 9 Steps, Fully Automated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Core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16152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16152"/>
            <a:ext cx="329184" cy="3566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16152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216152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ImageLoader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56232" y="1216152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Load &amp; preprocess 5 images · gamma correction · CLAHE denoising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618488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618488"/>
            <a:ext cx="329184" cy="3566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18488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YOLODetector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56232" y="1618488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YOLOv8n across all images · detections sorted by confidence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020824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020824"/>
            <a:ext cx="329184" cy="3566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020824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③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2020824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ShelfAnalyzer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56232" y="2020824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SDI metrics · zone analysis · uniformity · depth scoring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423160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423160"/>
            <a:ext cx="329184" cy="3566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423160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④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2423160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InventoryEstimator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56232" y="2423160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Map YOLO detections to INR value bands: staples / FMCG / high-margin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2825496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825496"/>
            <a:ext cx="329184" cy="35661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825496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2825496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VisualProcessor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56232" y="2825496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6-component weighted score → visual_score (0–1)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227832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227832"/>
            <a:ext cx="329184" cy="35661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227832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3227832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GeoFeatureExtractor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56232" y="3227832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Live OSM API · population rings · POI · competition · road type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630168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3630168"/>
            <a:ext cx="329184" cy="356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630168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⑦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3630168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FraudDetector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56232" y="3630168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12 cross-signal rules: visual / geo / cross-signal fraud detection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" y="4032504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032504"/>
            <a:ext cx="329184" cy="356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032504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⑧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4360" y="4032504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FusionModel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56232" y="4032504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composite = 0.40×visual + 0.35×geo − 0.25×fraud → APPROVE/REVIEW/REJECT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4434840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4434840"/>
            <a:ext cx="329184" cy="3566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434840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1A"/>
                </a:solidFill>
              </a:rPr>
              <a:t>⑨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94360" y="4434840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LLM Agents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56232" y="4434840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Gemini Orchestrator calls all agents in parallel → advice, memo, PDF, voice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40680" y="91440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577840" y="97840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Gemini Agent Layer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77840" y="1252728"/>
            <a:ext cx="3200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1252728"/>
            <a:ext cx="50292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87568" y="1252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Business Advisor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03720" y="1252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Inventory advice, revenue strategy, health score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577840" y="1581912"/>
            <a:ext cx="3200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7840" y="1581912"/>
            <a:ext cx="50292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87568" y="15819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Loan Advisor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903720" y="15819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Lender-grade credit memo + EMI sizing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77840" y="1911096"/>
            <a:ext cx="3200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0" y="1911096"/>
            <a:ext cx="5029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87568" y="19110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Credit Risk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903720" y="191109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XGBoost score + LLM risk narrative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577840" y="2240280"/>
            <a:ext cx="3200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77840" y="2240280"/>
            <a:ext cx="5029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87568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Voice Agent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903720" y="2240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Hindi/English STT → Gemini → TTS response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440680" y="2743200"/>
            <a:ext cx="34747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577840" y="280720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Fraud Detection — 12 Rules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577840" y="3108960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3108960"/>
            <a:ext cx="69494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77840" y="310896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309360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Identical images uploaded across slots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577840" y="3419856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577840" y="3419856"/>
            <a:ext cx="69494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77840" y="3419856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309360" y="34198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shelf_occupancy &lt; 0.10 or image blurry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577840" y="3730752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77840" y="3730752"/>
            <a:ext cx="694944" cy="25603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77840" y="3730752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309360" y="3730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Shop size &gt; 800 sqft but &lt; 15 items detected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577840" y="4041648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577840" y="4041648"/>
            <a:ext cx="69494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77840" y="4041648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309360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competitor_count &gt; 15 within 300m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577840" y="4352544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577840" y="4352544"/>
            <a:ext cx="69494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77840" y="435254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309360" y="43525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revenue &gt; ₹5L but shelf_occupancy &lt; 0.20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1883664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06  /  GENERATIVE 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Advisor Agent — Gemini at Its Best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6060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784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Agent Inputs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YOLOv8 inventory value &amp; category mix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SDI shelf occupancy score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Geo market score + competitor count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6700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City tier &amp; population density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XGBoost credit score (300–900)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5844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Fraud flags + composite risk score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Years in operation + monthly rent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914400"/>
            <a:ext cx="589788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17520" y="914400"/>
            <a:ext cx="589788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987552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Gemini Business Advisor — Full Example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1316736"/>
            <a:ext cx="1481328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34416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154680" y="18288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Health Score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73168" y="1316736"/>
            <a:ext cx="1481328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34416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73168" y="18288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Revenue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Uplift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1316736"/>
            <a:ext cx="1481328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34416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00800" y="18288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Risk Band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(AI + ML)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54680" y="2240280"/>
            <a:ext cx="56235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2240280"/>
            <a:ext cx="54864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2295144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  Top Problems (AI-identified)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64408" y="2514600"/>
            <a:ext cx="5440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FMCG variety too low — missing Maggi, Parle-G, Kurkure SKUs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High competition — 4 stores within 300m radius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3044952"/>
            <a:ext cx="56235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3044952"/>
            <a:ext cx="54864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099816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★  Top Opportunities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64408" y="3319272"/>
            <a:ext cx="5440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Add mobile recharge counter — increases daily footfall by ~20%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Stock premium biscuits (Dark Fantasy, Oreo) — 40% gross margin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54680" y="3849624"/>
            <a:ext cx="56235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3849624"/>
            <a:ext cx="54864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390448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Revenue Growth Strategy (AI-generated)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64408" y="4123944"/>
            <a:ext cx="5440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Stock Maggi, Parle-G, Kurkure at the billing counter — these 3 SKUs alone add ₹8K–₹12K/month. Partner with a local dairy for morning delivery to extend the store's trading window beyond evening hours.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1642262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164226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07  /  AGENTIC 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Autonomous — No Human in the Loop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60520" cy="3913632"/>
          </a:xfrm>
          <a:prstGeom prst="rect">
            <a:avLst/>
          </a:prstGeom>
          <a:solidFill>
            <a:srgbClr val="0D1117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9875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Live Agent Execution 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29844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Image Loader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47218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5 images loaded, 2 low-light enhanced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353312"/>
            <a:ext cx="5943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35331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0.4s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682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168249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Vision 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856232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84 items, SDI=0.71, visual_score=0.68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47872" y="1737360"/>
            <a:ext cx="5943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7373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1.2s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0665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06654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Geo Agent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2240280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Mumbai T1, 4 rivals in 300m, geo=0.74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47872" y="2121408"/>
            <a:ext cx="5943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21214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2.1s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4505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245059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Credit Risk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2624328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XGBoost score=712, risk_band=LOW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47872" y="2505456"/>
            <a:ext cx="5943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5054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0.8s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283464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Fraud Detector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008376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1 flag: VISUAL_LOW_PRODUCTS (medium)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547872" y="2889504"/>
            <a:ext cx="5943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288950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0.3s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321868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Business Advisor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368" y="339242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Health=72, +18% strategy, 3 SKUs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547872" y="3273552"/>
            <a:ext cx="59436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32735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3.2s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36027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" y="360273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Loan Advisor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3776472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₹2,50,000 rec. + lender memo written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547872" y="3657600"/>
            <a:ext cx="59436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3657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2.8s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7472" y="398678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" y="398678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 Agent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8368" y="4160520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PDF + HTML report compiled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47872" y="4041648"/>
            <a:ext cx="59436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47872" y="40416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1.5s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7472" y="43708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8368" y="437083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Voice Agent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" y="4544568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8"/>
                </a:solidFill>
              </a:rPr>
              <a:t>Hindi audio synthesised (48s clip)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547872" y="4425696"/>
            <a:ext cx="59436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47872" y="44256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</a:rPr>
              <a:t>4.1s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02336" y="4736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Total: 16.6s end-to-end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914400"/>
            <a:ext cx="4279392" cy="2331720"/>
          </a:xfrm>
          <a:prstGeom prst="rect">
            <a:avLst/>
          </a:prstGeom>
          <a:solidFill>
            <a:srgbClr val="071310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914400"/>
            <a:ext cx="427939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98755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Loan Advisor — Sample Output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54880" y="1316736"/>
            <a:ext cx="1316736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54880" y="135331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₹2,50,000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754880" y="1764792"/>
            <a:ext cx="1316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8"/>
                </a:solidFill>
              </a:rPr>
              <a:t>Recommended Loan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99632" y="1316736"/>
            <a:ext cx="1316736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199632" y="135331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months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199632" y="1764792"/>
            <a:ext cx="1316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8"/>
                </a:solidFill>
              </a:rPr>
              <a:t>Tenure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44384" y="1316736"/>
            <a:ext cx="1316736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644384" y="135331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₹24,583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644384" y="1764792"/>
            <a:ext cx="1316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8"/>
                </a:solidFill>
              </a:rPr>
              <a:t>Monthly EMI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54880" y="2176272"/>
            <a:ext cx="4005072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7A8B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882896" y="22311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5"/>
                </a:solidFill>
              </a:rPr>
              <a:t>AI Reasoning (lender-style):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882896" y="24505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Monthly revenue ₹1.2L–₹1.8L → 4× cap = ₹6L. XGBoost 712 + 1 MEDIUM flag → 0.82× multiplier → ₹2,50,000 recommended. 8 years tenure + Mumbai T1 are strong positive signals.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17720" y="3310128"/>
            <a:ext cx="4279392" cy="1508760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17720" y="3310128"/>
            <a:ext cx="42793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338328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🎤  Voice Agent — Hindi + English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754880" y="36758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Owner asks (Hindi voice input):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754880" y="38587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</a:rPr>
              <a:t>"Mujhe business improve karne ke liye kya karna chahiye?"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754880" y="41330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</a:rPr>
              <a:t>AI responds in Hindi (synthesised voice):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54880" y="431596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00C896"/>
                </a:solidFill>
              </a:rPr>
              <a:t>"Maggi, Parle-G stock karein — revenue 18% badh sakta hai."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04459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0445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08  /  EXPECTED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Credit Bureau for India's Physical Economy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084832" cy="1170432"/>
          </a:xfrm>
          <a:prstGeom prst="rect">
            <a:avLst/>
          </a:prstGeom>
          <a:solidFill>
            <a:srgbClr val="FAFFF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084832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149961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Kirana stores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addressable — immediately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914400"/>
            <a:ext cx="2084832" cy="1170432"/>
          </a:xfrm>
          <a:prstGeom prst="rect">
            <a:avLst/>
          </a:prstGeom>
          <a:solidFill>
            <a:srgbClr val="FAFFFE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914400"/>
            <a:ext cx="2084832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0058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₹5,000→₹0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41448" y="149961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Field visit cost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reduced per assessment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4296" y="914400"/>
            <a:ext cx="2084832" cy="1170432"/>
          </a:xfrm>
          <a:prstGeom prst="rect">
            <a:avLst/>
          </a:prstGeom>
          <a:solidFill>
            <a:srgbClr val="FAFFF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914400"/>
            <a:ext cx="2084832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0058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54296" y="149961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Photo upload to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full AI credit decision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67144" y="914400"/>
            <a:ext cx="2084832" cy="1170432"/>
          </a:xfrm>
          <a:prstGeom prst="rect">
            <a:avLst/>
          </a:prstGeom>
          <a:solidFill>
            <a:srgbClr val="FAFFF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67144" y="914400"/>
            <a:ext cx="208483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0058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Groups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67144" y="149961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Who directly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benefit from KiranaGPT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223113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Who Benefits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2578608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578608"/>
            <a:ext cx="288036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" y="263347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🏪  Kirana Store Owners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6616" y="2944368"/>
            <a:ext cx="262432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Access formal credit for the first time in their lives. Get AI business advice to grow revenue. No paperwork, no branch visits, no intimidation. Results in 60 seconds, not weeks.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2578608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2578608"/>
            <a:ext cx="288036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63347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🏦  NBFCs &amp; Banks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55848" y="2944368"/>
            <a:ext cx="262432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Cut field visit costs from ₹5,000 to near-zero. Scale loan disbursements to underserved geographies overnight. AI-explainable decisions satisfy RBI compliance requirements.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27064" y="2578608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27064" y="2578608"/>
            <a:ext cx="288036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63347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🇮🇳  Indian Economy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55080" y="2944368"/>
            <a:ext cx="262432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Formalise ₹40L Cr informal retail economy. Advance financial inclusion for India's 13M unbanked micro-retailers. Aligned with Digital India, Jan Dhan Yojana, and PM Mudra goals.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1803197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180319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09  /  FUTURE SCOPE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to Full Production Deployment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224528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4224528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891B2"/>
                </a:solidFill>
              </a:rPr>
              <a:t>Phase 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891B2"/>
                </a:solidFill>
              </a:rPr>
              <a:t>Live APIs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40817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Enhance live OSM Overpass API with WorldPop + Google Places for richer population rings. Add Redis caching layer for sub-second geo responses and real-time competition feed.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24528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224528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B82F6"/>
                </a:solidFill>
              </a:rPr>
              <a:t>Phase 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B82F6"/>
                </a:solidFill>
              </a:rPr>
              <a:t>Fine-tune ML Models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5464" y="140817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Partner with NBFC to collect real kirana loan outcomes. Re-train XGBoost on actual default data to replace synthetic training set. Backtest and validate composite scores against historical approval rates.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423160"/>
            <a:ext cx="4224528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423160"/>
            <a:ext cx="4224528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96"/>
                </a:solidFill>
              </a:rPr>
              <a:t>Phase 3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96"/>
                </a:solidFill>
              </a:rPr>
              <a:t>WhatsApp Bot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" y="291693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Loan officers submit via WhatsApp — photo + GPS pin. KiranaGPT responds with full analysis in 60s. Zero app install. Full vernacular language support (Hindi, Tamil, Telugu).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423160"/>
            <a:ext cx="4224528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23160"/>
            <a:ext cx="4224528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Phase 4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NBFC Deployment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55464" y="291693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White-label API for NBFCs (Poonawalla, Aye Finance, Stashfin). LOS dashboard integration. RBI-compliant audit trail + AI explainability reports for every decision.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3913632"/>
            <a:ext cx="9144000" cy="960120"/>
          </a:xfrm>
          <a:prstGeom prst="rect">
            <a:avLst/>
          </a:prstGeom>
          <a:solidFill>
            <a:srgbClr val="0713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023360"/>
            <a:ext cx="26517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23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Generative AI 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18688" y="4023360"/>
            <a:ext cx="2651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4023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Agentic AI 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4023360"/>
            <a:ext cx="26517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4023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Social Impact 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BA8"/>
                </a:solidFill>
              </a:rPr>
              <a:t>Team:  Aryan Raj  ·  Shashank Pandey  ·  Anushka Dixit   ·   HackArena 2.0  ·  Gemini + YOLOv8 + OSM ·  Generative &amp; Agentic AI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KiranaGPT — HackArena 2.0</dc:title>
  <dc:subject>PptxGenJS Presentation</dc:subject>
  <dc:creator>PptxGenJS</dc:creator>
  <cp:lastModifiedBy>PptxGenJS</cp:lastModifiedBy>
  <cp:revision>1</cp:revision>
  <dcterms:created xsi:type="dcterms:W3CDTF">2026-06-09T08:36:04Z</dcterms:created>
  <dcterms:modified xsi:type="dcterms:W3CDTF">2026-06-09T08:36:04Z</dcterms:modified>
</cp:coreProperties>
</file>